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1665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7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B9FD8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3291840"/>
            <a:ext cx="3291840" cy="3291840"/>
          </a:xfrm>
          <a:prstGeom prst="ellipse">
            <a:avLst/>
          </a:prstGeom>
          <a:solidFill>
            <a:srgbClr val="F2A93B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138160" y="4937760"/>
            <a:ext cx="1463040" cy="1463040"/>
          </a:xfrm>
          <a:prstGeom prst="ellipse">
            <a:avLst/>
          </a:prstGeom>
          <a:solidFill>
            <a:srgbClr val="1B9FD8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JammIA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868680" y="306324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 guida napoletana alle opere di Caravaggio e Caracciolo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ai musei di Napoli che le espongono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43434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Neo4j  ·  RAG Text-to-Cypher  ·  LangGraph  ·  LLM locale o Gemini  ·  Voce con Whisper e gTTS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8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Progetto di Natural Language Processing  —  Manuel Mignogna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sottosistemi, due tempi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376672" cy="3383280"/>
          </a:xfrm>
          <a:prstGeom prst="roundRect">
            <a:avLst>
              <a:gd name="adj" fmla="val 2432"/>
            </a:avLst>
          </a:prstGeom>
          <a:solidFill>
            <a:srgbClr val="E8F4FB"/>
          </a:solidFill>
          <a:ln/>
          <a:effectLst>
            <a:outerShdw blurRad="63500" dist="25400" dir="5400000" algn="bl" rotWithShape="0">
              <a:srgbClr val="9AB6C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68680" y="1463040"/>
            <a:ext cx="685800" cy="685800"/>
          </a:xfrm>
          <a:prstGeom prst="ellipse">
            <a:avLst/>
          </a:prstGeom>
          <a:solidFill>
            <a:srgbClr val="1B9F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164134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48132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 (offline)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14400" y="233172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Quattro query SPARQL su Wikidata, con cache locale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Arricchimento con le introduzioni di Wikipedia IT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Caricamento idempotente in Neo4j (MERGE)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Eseguita una tantum con build_database.py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3640" y="1143000"/>
            <a:ext cx="5376672" cy="3383280"/>
          </a:xfrm>
          <a:prstGeom prst="roundRect">
            <a:avLst>
              <a:gd name="adj" fmla="val 2432"/>
            </a:avLst>
          </a:prstGeom>
          <a:solidFill>
            <a:srgbClr val="E8F4FB"/>
          </a:solidFill>
          <a:ln/>
          <a:effectLst>
            <a:outerShdw blurRad="63500" dist="25400" dir="5400000" algn="bl" rotWithShape="0">
              <a:srgbClr val="9AB6C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583680" y="1463040"/>
            <a:ext cx="685800" cy="685800"/>
          </a:xfrm>
          <a:prstGeom prst="ellipse">
            <a:avLst/>
          </a:prstGeom>
          <a:solidFill>
            <a:srgbClr val="1B9F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988" y="164134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52360" y="148132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conversazionale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6629400" y="233172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Interfaccia Gradio vocale e testuale (app.py)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turno attraversa un grafo di stato LangGraph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Text-to-Cypher sul grafo di conoscenza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sintesi LLM per turno, poi voce gTTS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48640" y="4892040"/>
            <a:ext cx="11091672" cy="1234440"/>
          </a:xfrm>
          <a:prstGeom prst="roundRect">
            <a:avLst>
              <a:gd name="adj" fmla="val 6667"/>
            </a:avLst>
          </a:prstGeom>
          <a:solidFill>
            <a:srgbClr val="0B2E4F"/>
          </a:solidFill>
          <a:ln/>
          <a:effectLst>
            <a:outerShdw blurRad="63500" dist="25400" dir="5400000" algn="bl" rotWithShape="0">
              <a:srgbClr val="9AB6C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868680" y="5138928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875" y="5329123"/>
            <a:ext cx="351130" cy="35113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28800" y="5029200"/>
            <a:ext cx="9509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Separazione tra conoscenza e ragionamento.  </a:t>
            </a:r>
            <a:r>
              <a:rPr lang="en-US" sz="1450" dirty="0">
                <a:solidFill>
                  <a:srgbClr val="CF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fatti risiedono nel grafo; l'LLM traduce (linguaggio → Cypher) e sintetizza (dati → risposta), non è la fonte di verità.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flusso di un turno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75488" cy="475488"/>
          </a:xfrm>
          <a:prstGeom prst="ellipse">
            <a:avLst/>
          </a:prstGeom>
          <a:solidFill>
            <a:srgbClr val="1B9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234440" y="117957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211580" y="1520785"/>
            <a:ext cx="4892040" cy="224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Testo, oppure voce trascritta da Whisper (mono, float32, italiano forzato)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532888"/>
            <a:ext cx="475488" cy="475488"/>
          </a:xfrm>
          <a:prstGeom prst="ellipse">
            <a:avLst/>
          </a:prstGeom>
          <a:solidFill>
            <a:srgbClr val="1B9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532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34440" y="247802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 immediato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262776" y="2825496"/>
            <a:ext cx="4892040" cy="224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messaggio appare subito in chat; la generazione parte in un secondo evento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831336"/>
            <a:ext cx="475488" cy="475488"/>
          </a:xfrm>
          <a:prstGeom prst="ellipse">
            <a:avLst/>
          </a:prstGeom>
          <a:solidFill>
            <a:srgbClr val="1B9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831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234440" y="37764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Instradamento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234440" y="414630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B7186"/>
                </a:solidFill>
                <a:latin typeface="Calibri" pitchFamily="34" charset="0"/>
                <a:cs typeface="Calibri" pitchFamily="34" charset="-120"/>
              </a:rPr>
              <a:t>DialogManager con il thread_id di sessione; resume se c'era un chiarimento in sospeso</a:t>
            </a:r>
          </a:p>
        </p:txBody>
      </p:sp>
      <p:sp>
        <p:nvSpPr>
          <p:cNvPr id="15" name="Shape 13"/>
          <p:cNvSpPr/>
          <p:nvPr/>
        </p:nvSpPr>
        <p:spPr>
          <a:xfrm>
            <a:off x="548640" y="5129784"/>
            <a:ext cx="475488" cy="475488"/>
          </a:xfrm>
          <a:prstGeom prst="ellipse">
            <a:avLst/>
          </a:prstGeom>
          <a:solidFill>
            <a:srgbClr val="1B9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51297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234440" y="5074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Classificazione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234440" y="5372050"/>
            <a:ext cx="4892040" cy="239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chitchat  ·  clarification (interrupt)  ·  query scomposta in sotto-domande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55080" y="1234440"/>
            <a:ext cx="475488" cy="475488"/>
          </a:xfrm>
          <a:prstGeom prst="ellipse">
            <a:avLst/>
          </a:prstGeom>
          <a:solidFill>
            <a:srgbClr val="1B9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55080" y="1234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040880" y="117957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RAG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040880" y="144902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Cypher generato dall'LLM, query Neo4j eseguite in parallelo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55080" y="2532888"/>
            <a:ext cx="475488" cy="475488"/>
          </a:xfrm>
          <a:prstGeom prst="ellipse">
            <a:avLst/>
          </a:prstGeom>
          <a:solidFill>
            <a:srgbClr val="1B9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55080" y="2532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040880" y="247802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Sintesi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7018020" y="2819729"/>
            <a:ext cx="4892040" cy="247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chiamata LLM fonde i risultati; nota dedicata al fuori ambito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55080" y="3831336"/>
            <a:ext cx="475488" cy="475488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55080" y="3831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040880" y="37764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Chiusura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7059168" y="4094122"/>
            <a:ext cx="4892040" cy="247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Cronologia aggiornata; risposta testuale e vocale (gTTS)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di ingestion: un ETL per il grafo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429000" cy="2651760"/>
          </a:xfrm>
          <a:prstGeom prst="roundRect">
            <a:avLst>
              <a:gd name="adj" fmla="val 3103"/>
            </a:avLst>
          </a:prstGeom>
          <a:solidFill>
            <a:srgbClr val="E8F4FB"/>
          </a:solidFill>
          <a:ln/>
          <a:effectLst>
            <a:outerShdw blurRad="63500" dist="25400" dir="5400000" algn="bl" rotWithShape="0">
              <a:srgbClr val="9AB6C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41248" y="1508760"/>
            <a:ext cx="640080" cy="640080"/>
          </a:xfrm>
          <a:prstGeom prst="ellipse">
            <a:avLst/>
          </a:prstGeom>
          <a:solidFill>
            <a:srgbClr val="1B9F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9" y="167518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53619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SparqlExecutor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68680" y="228600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Interroga Wikidata con 4 query parametriche; retry sul rate limit (HTTP 429)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041648" y="2560320"/>
            <a:ext cx="484632" cy="0"/>
          </a:xfrm>
          <a:prstGeom prst="line">
            <a:avLst/>
          </a:prstGeom>
          <a:noFill/>
          <a:ln w="22225">
            <a:solidFill>
              <a:srgbClr val="1B9FD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590288" y="1234440"/>
            <a:ext cx="3429000" cy="2651760"/>
          </a:xfrm>
          <a:prstGeom prst="roundRect">
            <a:avLst>
              <a:gd name="adj" fmla="val 3103"/>
            </a:avLst>
          </a:prstGeom>
          <a:solidFill>
            <a:srgbClr val="E8F4FB"/>
          </a:solidFill>
          <a:ln/>
          <a:effectLst>
            <a:outerShdw blurRad="63500" dist="25400" dir="5400000" algn="bl" rotWithShape="0">
              <a:srgbClr val="9AB6C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882896" y="1508760"/>
            <a:ext cx="640080" cy="640080"/>
          </a:xfrm>
          <a:prstGeom prst="ellipse">
            <a:avLst/>
          </a:prstGeom>
          <a:solidFill>
            <a:srgbClr val="1B9F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9317" y="167518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41848" y="153619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910328" y="228600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Pulisce i binding (Q-ID, date, coordinate WKT) e sostituisce le descrizioni con le intro di Wikipedia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560320"/>
            <a:ext cx="484632" cy="0"/>
          </a:xfrm>
          <a:prstGeom prst="line">
            <a:avLst/>
          </a:prstGeom>
          <a:noFill/>
          <a:ln w="22225">
            <a:solidFill>
              <a:srgbClr val="1B9FD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631936" y="1234440"/>
            <a:ext cx="3429000" cy="2651760"/>
          </a:xfrm>
          <a:prstGeom prst="roundRect">
            <a:avLst>
              <a:gd name="adj" fmla="val 3103"/>
            </a:avLst>
          </a:prstGeom>
          <a:solidFill>
            <a:srgbClr val="E8F4FB"/>
          </a:solidFill>
          <a:ln/>
          <a:effectLst>
            <a:outerShdw blurRad="63500" dist="25400" dir="5400000" algn="bl" rotWithShape="0">
              <a:srgbClr val="9AB6C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924544" y="1508760"/>
            <a:ext cx="640080" cy="640080"/>
          </a:xfrm>
          <a:prstGeom prst="ellipse">
            <a:avLst/>
          </a:prstGeom>
          <a:solidFill>
            <a:srgbClr val="1B9F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0965" y="167518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83496" y="153619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Neo4jLoader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8951976" y="228600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idempotente; relazioni con OPTIONAL MATCH: un riferimento mancante non tronca la query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48640" y="4297680"/>
            <a:ext cx="5376672" cy="1783080"/>
          </a:xfrm>
          <a:prstGeom prst="roundRect">
            <a:avLst>
              <a:gd name="adj" fmla="val 4615"/>
            </a:avLst>
          </a:prstGeom>
          <a:solidFill>
            <a:srgbClr val="0B2E4F"/>
          </a:solidFill>
          <a:ln/>
          <a:effectLst>
            <a:outerShdw blurRad="63500" dist="25400" dir="5400000" algn="bl" rotWithShape="0">
              <a:srgbClr val="9AB6C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841248" y="4617720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669" y="4784141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45920" y="4526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locale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1645920" y="493776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sparql_cache.json e wikipedia_cache.json: ricostruzione rapida del DB e rispetto dei rate limit delle fonti.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263640" y="4297680"/>
            <a:ext cx="5376672" cy="1783080"/>
          </a:xfrm>
          <a:prstGeom prst="roundRect">
            <a:avLst>
              <a:gd name="adj" fmla="val 4615"/>
            </a:avLst>
          </a:prstGeom>
          <a:solidFill>
            <a:srgbClr val="0B2E4F"/>
          </a:solidFill>
          <a:ln/>
          <a:effectLst>
            <a:outerShdw blurRad="63500" dist="25400" dir="5400000" algn="bl" rotWithShape="0">
              <a:srgbClr val="9AB6C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6556248" y="4617720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2669" y="4784141"/>
            <a:ext cx="307238" cy="30723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360920" y="4526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loudly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7360920" y="493776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errore SPARQL non transiente interrompe la pipeline: mai salvare in cache un risultato vuoto che maschera il problema.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knowledge graph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2743200"/>
            <a:ext cx="1828800" cy="868680"/>
          </a:xfrm>
          <a:prstGeom prst="ellipse">
            <a:avLst/>
          </a:prstGeom>
          <a:solidFill>
            <a:srgbClr val="1B9FD8"/>
          </a:solidFill>
          <a:ln/>
          <a:effectLst>
            <a:outerShdw blurRad="50800" dist="25400" dir="5400000" algn="bl" rotWithShape="0">
              <a:srgbClr val="9AB6C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206240" y="1371600"/>
            <a:ext cx="1828800" cy="868680"/>
          </a:xfrm>
          <a:prstGeom prst="ellipse">
            <a:avLst/>
          </a:prstGeom>
          <a:solidFill>
            <a:srgbClr val="0B2E4F"/>
          </a:solidFill>
          <a:ln/>
          <a:effectLst>
            <a:outerShdw blurRad="50800" dist="25400" dir="5400000" algn="bl" rotWithShape="0">
              <a:srgbClr val="9AB6C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06240" y="13716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06240" y="4114800"/>
            <a:ext cx="1828800" cy="868680"/>
          </a:xfrm>
          <a:prstGeom prst="ellipse">
            <a:avLst/>
          </a:prstGeom>
          <a:solidFill>
            <a:srgbClr val="0B2E4F"/>
          </a:solidFill>
          <a:ln/>
          <a:effectLst>
            <a:outerShdw blurRad="50800" dist="25400" dir="5400000" algn="bl" rotWithShape="0">
              <a:srgbClr val="9AB6C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06240" y="41148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5120640"/>
            <a:ext cx="1828800" cy="868680"/>
          </a:xfrm>
          <a:prstGeom prst="ellipse">
            <a:avLst/>
          </a:prstGeom>
          <a:solidFill>
            <a:srgbClr val="5B7186"/>
          </a:solidFill>
          <a:ln/>
          <a:effectLst>
            <a:outerShdw blurRad="50800" dist="25400" dir="5400000" algn="bl" rotWithShape="0">
              <a:srgbClr val="9AB6C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51206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Città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 flipV="1">
            <a:off x="2606040" y="2057400"/>
            <a:ext cx="1737360" cy="960120"/>
          </a:xfrm>
          <a:prstGeom prst="line">
            <a:avLst/>
          </a:prstGeom>
          <a:noFill/>
          <a:ln w="22225">
            <a:solidFill>
              <a:srgbClr val="1B9FD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331720" y="21717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DIPINTA_DA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06040" y="3364992"/>
            <a:ext cx="1600200" cy="1115568"/>
          </a:xfrm>
          <a:prstGeom prst="line">
            <a:avLst/>
          </a:prstGeom>
          <a:noFill/>
          <a:ln w="22225">
            <a:solidFill>
              <a:srgbClr val="1B9FD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148840" y="39547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ESPOSTA_IN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flipH="1">
            <a:off x="2656282" y="4754880"/>
            <a:ext cx="1687118" cy="571500"/>
          </a:xfrm>
          <a:prstGeom prst="line">
            <a:avLst/>
          </a:prstGeom>
          <a:noFill/>
          <a:ln w="22225">
            <a:solidFill>
              <a:srgbClr val="1B9FD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656282" y="51892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SITUATO_IN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49440" y="1188720"/>
            <a:ext cx="4663440" cy="5029200"/>
          </a:xfrm>
          <a:prstGeom prst="roundRect">
            <a:avLst>
              <a:gd name="adj" fmla="val 1765"/>
            </a:avLst>
          </a:prstGeom>
          <a:solidFill>
            <a:srgbClr val="E8F4FB"/>
          </a:solidFill>
          <a:ln/>
          <a:effectLst>
            <a:outerShdw blurRad="63500" dist="25400" dir="5400000" algn="bl" rotWithShape="0">
              <a:srgbClr val="9AB6C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269480" y="14173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Proprietà principali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69480" y="1965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6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Artista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269480" y="228600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date di nascita/morte, luogo, movimenti, opere notevoli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69480" y="30175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6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269480" y="333756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titolo, anno, dimensioni, tecnica, soggetti, descrizione (intro Wikipedia)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69480" y="40690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6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Museo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269480" y="438912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indirizzo, sito, telefono, coordinate, fondazione, biglietto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69480" y="5120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6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Città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269480" y="544068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(Napoli e dintorni)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2636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Nodi identificati dal wikidataId: il MERGE resta idempotente a ogni ricostruzione.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dialogo come grafo di stato (LangGraph)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2743200"/>
            <a:ext cx="1051560" cy="548640"/>
          </a:xfrm>
          <a:prstGeom prst="roundRect">
            <a:avLst>
              <a:gd name="adj" fmla="val 11667"/>
            </a:avLst>
          </a:prstGeom>
          <a:solidFill>
            <a:srgbClr val="5B7186"/>
          </a:solidFill>
          <a:ln/>
          <a:effectLst>
            <a:outerShdw blurRad="50800" dist="25400" dir="5400000" algn="bl" rotWithShape="0">
              <a:srgbClr val="9AB6C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148840" y="2606040"/>
            <a:ext cx="2377440" cy="822960"/>
          </a:xfrm>
          <a:prstGeom prst="roundRect">
            <a:avLst>
              <a:gd name="adj" fmla="val 7778"/>
            </a:avLst>
          </a:prstGeom>
          <a:solidFill>
            <a:srgbClr val="0B2E4F"/>
          </a:solidFill>
          <a:ln/>
          <a:effectLst>
            <a:outerShdw blurRad="50800" dist="25400" dir="5400000" algn="bl" rotWithShape="0">
              <a:srgbClr val="9AB6C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148840" y="2606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Classificazione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77840" y="1234440"/>
            <a:ext cx="2377440" cy="822960"/>
          </a:xfrm>
          <a:prstGeom prst="roundRect">
            <a:avLst>
              <a:gd name="adj" fmla="val 7778"/>
            </a:avLst>
          </a:prstGeom>
          <a:solidFill>
            <a:srgbClr val="0B2E4F"/>
          </a:solidFill>
          <a:ln/>
          <a:effectLst>
            <a:outerShdw blurRad="50800" dist="25400" dir="5400000" algn="bl" rotWithShape="0">
              <a:srgbClr val="9AB6C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577840" y="12344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Cronologia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48840" y="4572000"/>
            <a:ext cx="2377440" cy="822960"/>
          </a:xfrm>
          <a:prstGeom prst="roundRect">
            <a:avLst>
              <a:gd name="adj" fmla="val 7778"/>
            </a:avLst>
          </a:prstGeom>
          <a:solidFill>
            <a:srgbClr val="F2A93B"/>
          </a:solidFill>
          <a:ln/>
          <a:effectLst>
            <a:outerShdw blurRad="50800" dist="25400" dir="5400000" algn="bl" rotWithShape="0">
              <a:srgbClr val="9AB6C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48840" y="45720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Chiarimento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577840" y="3291840"/>
            <a:ext cx="2377440" cy="822960"/>
          </a:xfrm>
          <a:prstGeom prst="roundRect">
            <a:avLst>
              <a:gd name="adj" fmla="val 7778"/>
            </a:avLst>
          </a:prstGeom>
          <a:solidFill>
            <a:srgbClr val="1B9FD8"/>
          </a:solidFill>
          <a:ln/>
          <a:effectLst>
            <a:outerShdw blurRad="50800" dist="25400" dir="5400000" algn="bl" rotWithShape="0">
              <a:srgbClr val="9AB6C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577840" y="32918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Generazione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(RAG + sintesi)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06840" y="1371600"/>
            <a:ext cx="1188720" cy="548640"/>
          </a:xfrm>
          <a:prstGeom prst="roundRect">
            <a:avLst>
              <a:gd name="adj" fmla="val 11667"/>
            </a:avLst>
          </a:prstGeom>
          <a:solidFill>
            <a:srgbClr val="5B7186"/>
          </a:solidFill>
          <a:ln/>
          <a:effectLst>
            <a:outerShdw blurRad="50800" dist="25400" dir="5400000" algn="bl" rotWithShape="0">
              <a:srgbClr val="9AB6C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006840" y="13716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600200" y="3017520"/>
            <a:ext cx="548640" cy="0"/>
          </a:xfrm>
          <a:prstGeom prst="line">
            <a:avLst/>
          </a:prstGeom>
          <a:noFill/>
          <a:ln w="22225">
            <a:solidFill>
              <a:srgbClr val="0B2E4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 flipV="1">
            <a:off x="4526280" y="2057400"/>
            <a:ext cx="1051560" cy="640080"/>
          </a:xfrm>
          <a:prstGeom prst="line">
            <a:avLst/>
          </a:prstGeom>
          <a:noFill/>
          <a:ln w="22225">
            <a:solidFill>
              <a:srgbClr val="0B2E4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 rot="19713945">
            <a:off x="4185526" y="1753603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chitchat: risposta pronta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26280" y="3200400"/>
            <a:ext cx="1051560" cy="457200"/>
          </a:xfrm>
          <a:prstGeom prst="line">
            <a:avLst/>
          </a:prstGeom>
          <a:noFill/>
          <a:ln w="22225">
            <a:solidFill>
              <a:srgbClr val="0B2E4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 rot="1399101">
            <a:off x="4662556" y="310276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sub-questions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37560" y="3429000"/>
            <a:ext cx="0" cy="1143000"/>
          </a:xfrm>
          <a:prstGeom prst="line">
            <a:avLst/>
          </a:prstGeom>
          <a:noFill/>
          <a:ln w="22225">
            <a:solidFill>
              <a:srgbClr val="0B2E4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74720" y="3913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riferimento irrisolvibile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 flipV="1">
            <a:off x="4526280" y="4114800"/>
            <a:ext cx="1051559" cy="731520"/>
          </a:xfrm>
          <a:prstGeom prst="line">
            <a:avLst/>
          </a:prstGeom>
          <a:noFill/>
          <a:ln w="22225">
            <a:solidFill>
              <a:srgbClr val="0B2E4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766560" y="3291840"/>
            <a:ext cx="0" cy="0"/>
          </a:xfrm>
          <a:prstGeom prst="line">
            <a:avLst/>
          </a:prstGeom>
          <a:noFill/>
          <a:ln w="22225">
            <a:solidFill>
              <a:srgbClr val="0B2E4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955280" y="1645920"/>
            <a:ext cx="1051560" cy="0"/>
          </a:xfrm>
          <a:prstGeom prst="line">
            <a:avLst/>
          </a:prstGeom>
          <a:noFill/>
          <a:ln w="22225">
            <a:solidFill>
              <a:srgbClr val="0B2E4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194560" y="5440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≤ 3 tentativi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29600" y="2926080"/>
            <a:ext cx="3410712" cy="3154680"/>
          </a:xfrm>
          <a:prstGeom prst="roundRect">
            <a:avLst>
              <a:gd name="adj" fmla="val 2609"/>
            </a:avLst>
          </a:prstGeom>
          <a:solidFill>
            <a:srgbClr val="E8F4FB"/>
          </a:solidFill>
          <a:ln/>
          <a:effectLst>
            <a:outerShdw blurRad="63500" dist="25400" dir="5400000" algn="bl" rotWithShape="0">
              <a:srgbClr val="9AB6C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503920" y="3154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503920" y="3611880"/>
            <a:ext cx="2880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interrupt: il grafo si sospende, la domanda di chiarimento va all'utente, e il turno riprende esattamente da lì con Command(resume=...).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Checkpointer MemorySaver: stato serializzato per thread_id — conversazioni indipendenti e ripresa esatta dopo la sospensione.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DialogState: lo stato che attraversa il grafo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760720" cy="4983480"/>
          </a:xfrm>
          <a:prstGeom prst="roundRect">
            <a:avLst>
              <a:gd name="adj" fmla="val 1651"/>
            </a:avLst>
          </a:prstGeom>
          <a:solidFill>
            <a:srgbClr val="E8F4FB"/>
          </a:solidFill>
          <a:ln/>
          <a:effectLst>
            <a:outerShdw blurRad="63500" dist="25400" dir="5400000" algn="bl" rotWithShape="0">
              <a:srgbClr val="9AB6C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Campi (modello Pydantic)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6E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68680" y="221284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domanda corrente, arricchita con gli eventuali chiarimenti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8680" y="276148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6E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sub_questions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305409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domande atomiche auto-contenute, ciascuna con flag in_scope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360273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6E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clarification_question / attempts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389534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chiarimento da porre e contatore anti-loop (max 3)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444398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6E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473659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ultimi turni come lista di Turn (domanda + risposta)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68680" y="528523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6E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68680" y="55778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risposta finale del turno (anche per il chitchat)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629400" y="1188720"/>
            <a:ext cx="498348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9AB6C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949440" y="133502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Aggiornamenti parziali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49440" y="1700784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nodo restituisce solo i campi che modifica (DialogStateUpdate); LangGraph li fonde nello stato e lo ripersiste a fine turno o alla sospensione.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629400" y="2898648"/>
            <a:ext cx="498348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9AB6C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49440" y="304495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per conversazione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49440" y="3410712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thread_id creato pigramente al primo turno di ogni sessione (mai condiviso tra utenti); il reset ne genera uno nuovo.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629400" y="4608576"/>
            <a:ext cx="4983480" cy="1554480"/>
          </a:xfrm>
          <a:prstGeom prst="roundRect">
            <a:avLst>
              <a:gd name="adj" fmla="val 5294"/>
            </a:avLst>
          </a:prstGeom>
          <a:solidFill>
            <a:srgbClr val="0B2E4F"/>
          </a:solidFill>
          <a:ln/>
          <a:effectLst>
            <a:outerShdw blurRad="63500" dist="25400" dir="5400000" algn="bl" rotWithShape="0">
              <a:srgbClr val="9AB6C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49440" y="475488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Cronologia disciplinata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49440" y="512064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Massimo 10 turni salvati, 3 nel prompt, con ruoli espliciti “Utente / Assistente (tu)”: così “sì” e “fallo” dopo un'offerta si risolvono da soli.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Classificazione: cosa fare del messaggio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429000" cy="2834640"/>
          </a:xfrm>
          <a:prstGeom prst="roundRect">
            <a:avLst>
              <a:gd name="adj" fmla="val 2903"/>
            </a:avLst>
          </a:prstGeom>
          <a:solidFill>
            <a:srgbClr val="1B9FD8"/>
          </a:solidFill>
          <a:ln/>
          <a:effectLst>
            <a:outerShdw blurRad="63500" dist="25400" dir="5400000" algn="bl" rotWithShape="0">
              <a:srgbClr val="9AB6C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80" y="14630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Scomposta in sotto-domande atomiche e auto-contenute: coreference risolta dai turni precedenti, flag in_scope per parte. Un “sì” dopo un'offerta diventa query esplicita.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90288" y="1234440"/>
            <a:ext cx="3429000" cy="2834640"/>
          </a:xfrm>
          <a:prstGeom prst="roundRect">
            <a:avLst>
              <a:gd name="adj" fmla="val 2903"/>
            </a:avLst>
          </a:prstGeom>
          <a:solidFill>
            <a:srgbClr val="F2A93B"/>
          </a:solidFill>
          <a:ln/>
          <a:effectLst>
            <a:outerShdw blurRad="63500" dist="25400" dir="5400000" algn="bl" rotWithShape="0">
              <a:srgbClr val="9AB6C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910328" y="14630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CLARIFICATION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10328" y="201168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Ultima risorsa: solo se il riferimento è davvero irrisolvibile. Vietato chiedere conferma di domande già capite. Massimo 3 tentativi.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31936" y="1234440"/>
            <a:ext cx="3429000" cy="2834640"/>
          </a:xfrm>
          <a:prstGeom prst="roundRect">
            <a:avLst>
              <a:gd name="adj" fmla="val 2903"/>
            </a:avLst>
          </a:prstGeom>
          <a:solidFill>
            <a:srgbClr val="0B2E4F"/>
          </a:solidFill>
          <a:ln/>
          <a:effectLst>
            <a:outerShdw blurRad="63500" dist="25400" dir="5400000" algn="bl" rotWithShape="0">
              <a:srgbClr val="9AB6C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951976" y="14630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CHITCHAT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951976" y="201168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messaggi sociali, mai richieste di informazioni. Risposta cordiale in stile JammIA, con presentazione solo al primo scambio.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11091672" cy="1600200"/>
          </a:xfrm>
          <a:prstGeom prst="roundRect">
            <a:avLst>
              <a:gd name="adj" fmla="val 5143"/>
            </a:avLst>
          </a:prstGeom>
          <a:solidFill>
            <a:srgbClr val="E8F4FB"/>
          </a:solidFill>
          <a:ln/>
          <a:effectLst>
            <a:outerShdw blurRad="63500" dist="25400" dir="5400000" algn="bl" rotWithShape="0">
              <a:srgbClr val="9AB6C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4846320"/>
            <a:ext cx="731520" cy="731520"/>
          </a:xfrm>
          <a:prstGeom prst="ellipse">
            <a:avLst/>
          </a:prstGeom>
          <a:solidFill>
            <a:srgbClr val="1B9F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75" y="5036515"/>
            <a:ext cx="351130" cy="35113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874520" y="4681728"/>
            <a:ext cx="9509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Robusto per costruzione.  </a:t>
            </a:r>
            <a:r>
              <a:rPr lang="en-US" sz="13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L'output JSON è estratto in modo tollerante (l'oggetto {...} anche dentro fence markdown o testo spurio) e validato con Pydantic; in caso estremo si degrada a una richiesta di chiarimento. Stessa pipeline con Ollama locale o Gemini via API (factory make_llm).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da linguaggio naturale a Cypher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394960" cy="3017520"/>
          </a:xfrm>
          <a:prstGeom prst="roundRect">
            <a:avLst>
              <a:gd name="adj" fmla="val 2727"/>
            </a:avLst>
          </a:prstGeom>
          <a:solidFill>
            <a:srgbClr val="0B2E4F"/>
          </a:solidFill>
          <a:ln/>
          <a:effectLst>
            <a:outerShdw blurRad="63500" dist="25400" dir="5400000" algn="bl" rotWithShape="0">
              <a:srgbClr val="9AB6C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80" y="1371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GraphCypherQAChain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return_direct = True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9DC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solo retrieval: righe grezze, sintesi centralizzata altrove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validate_cypher = True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9DC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corregge la direzione delle relazioni rispetto allo schema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 iniettato nel prompt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DC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Neo4jGraph introspetta etichette, proprietà e relazioni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0" y="1645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Regole del prompt Cypher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0" y="1737360"/>
            <a:ext cx="5166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Relazioni bidirezionali senza frecce: la direzione sbagliata non svuota più i risultati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Confronti case-insensitive (toLower) e ricerca per contenimento (CONTAINS)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confondere Caravaggio/Merisi con Caracciolo/Battistello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 leggibili sugli aggregati (count ... AS numero_opere)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Entità multiple con WHERE ... IN [...], una riga per entità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4572000"/>
            <a:ext cx="5376672" cy="1600200"/>
          </a:xfrm>
          <a:prstGeom prst="roundRect">
            <a:avLst>
              <a:gd name="adj" fmla="val 5143"/>
            </a:avLst>
          </a:prstGeom>
          <a:solidFill>
            <a:srgbClr val="E8F4FB"/>
          </a:solidFill>
          <a:ln/>
          <a:effectLst>
            <a:outerShdw blurRad="63500" dist="25400" dir="5400000" algn="bl" rotWithShape="0">
              <a:srgbClr val="9AB6C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41248" y="4846320"/>
            <a:ext cx="640080" cy="640080"/>
          </a:xfrm>
          <a:prstGeom prst="ellipse">
            <a:avLst/>
          </a:prstGeom>
          <a:solidFill>
            <a:srgbClr val="1B9F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9" y="5012741"/>
            <a:ext cx="307238" cy="30723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45920" y="4754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parallelo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645920" y="513892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Sotto-domande deduplicate ed eseguite con ThreadPoolExecutor (fino a 5 worker): la latenza non cresce con le domande composte.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63640" y="4572000"/>
            <a:ext cx="5376672" cy="1600200"/>
          </a:xfrm>
          <a:prstGeom prst="roundRect">
            <a:avLst>
              <a:gd name="adj" fmla="val 5143"/>
            </a:avLst>
          </a:prstGeom>
          <a:solidFill>
            <a:srgbClr val="E8F4FB"/>
          </a:solidFill>
          <a:ln/>
          <a:effectLst>
            <a:outerShdw blurRad="63500" dist="25400" dir="5400000" algn="bl" rotWithShape="0">
              <a:srgbClr val="9AB6C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556248" y="4846320"/>
            <a:ext cx="640080" cy="640080"/>
          </a:xfrm>
          <a:prstGeom prst="ellipse">
            <a:avLst/>
          </a:prstGeom>
          <a:solidFill>
            <a:srgbClr val="1B9F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2669" y="5012741"/>
            <a:ext cx="307238" cy="30723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60920" y="4754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mirati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7360920" y="513892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 a 3 tentativi ma solo sugli errori: un risultato vuoto su query riuscita è una risposta legittima, non si spreca LLM.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Sintesi: dai dati alla risposta di JammIA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855629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Regole di stile del prompt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035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Concisa e diretta: 3-4 frasi, subito il dato richiesto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citare la fonte: niente “secondo il database”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e soli i valori recuperati; il vuoto non si inventa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Tocco napoletano leggero, dati sempre in italiano chiaro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esplicita per le sotto-domande fuori ambito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78040" y="1234440"/>
            <a:ext cx="4462272" cy="2377440"/>
          </a:xfrm>
          <a:prstGeom prst="roundRect">
            <a:avLst>
              <a:gd name="adj" fmla="val 3462"/>
            </a:avLst>
          </a:prstGeom>
          <a:solidFill>
            <a:srgbClr val="1B9FD8"/>
          </a:solidFill>
          <a:ln/>
          <a:effectLst>
            <a:outerShdw blurRad="63500" dist="25400" dir="5400000" algn="bl" rotWithShape="0">
              <a:srgbClr val="9AB6C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78040" y="1371600"/>
            <a:ext cx="4462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7452360" y="25603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chiamata di sintesi per turno: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6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anche una domanda tripla costa una sola generazione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78040" y="3886200"/>
            <a:ext cx="4462272" cy="2240280"/>
          </a:xfrm>
          <a:prstGeom prst="roundRect">
            <a:avLst>
              <a:gd name="adj" fmla="val 3673"/>
            </a:avLst>
          </a:prstGeom>
          <a:solidFill>
            <a:srgbClr val="0B2E4F"/>
          </a:solidFill>
          <a:ln/>
          <a:effectLst>
            <a:outerShdw blurRad="63500" dist="25400" dir="5400000" algn="bl" rotWithShape="0">
              <a:srgbClr val="9AB6C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452360" y="4160520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8781" y="4326941"/>
            <a:ext cx="307238" cy="30723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0" y="422452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Offerte che si chiudono da sole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498080" y="489204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suggerimento finale è concreto e in ambito (“...anche su Caracciolo”): al turno dopo, un “sì” basta al classificatore per costruire la query.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48640" y="539496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parti fuori ambito ricevono una delimitazione onesta: dati reali dove il grafo li ha, confini chiari dove no.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06040" cy="2240280"/>
          </a:xfrm>
          <a:prstGeom prst="roundRect">
            <a:avLst>
              <a:gd name="adj" fmla="val 3673"/>
            </a:avLst>
          </a:prstGeom>
          <a:solidFill>
            <a:srgbClr val="E8F4FB"/>
          </a:solidFill>
          <a:ln/>
          <a:effectLst>
            <a:outerShdw blurRad="63500" dist="25400" dir="5400000" algn="bl" rotWithShape="0">
              <a:srgbClr val="9AB6C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508760" y="1627632"/>
            <a:ext cx="685800" cy="685800"/>
          </a:xfrm>
          <a:prstGeom prst="ellipse">
            <a:avLst/>
          </a:prstGeom>
          <a:solidFill>
            <a:srgbClr val="1B9F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068" y="1805940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423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31520" y="27889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interrogato in Cypher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410712" y="1371600"/>
            <a:ext cx="2606040" cy="2240280"/>
          </a:xfrm>
          <a:prstGeom prst="roundRect">
            <a:avLst>
              <a:gd name="adj" fmla="val 3673"/>
            </a:avLst>
          </a:prstGeom>
          <a:solidFill>
            <a:srgbClr val="E8F4FB"/>
          </a:solidFill>
          <a:ln/>
          <a:effectLst>
            <a:outerShdw blurRad="63500" dist="25400" dir="5400000" algn="bl" rotWithShape="0">
              <a:srgbClr val="9AB6C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370832" y="1627632"/>
            <a:ext cx="685800" cy="685800"/>
          </a:xfrm>
          <a:prstGeom prst="ellipse">
            <a:avLst/>
          </a:prstGeom>
          <a:solidFill>
            <a:srgbClr val="1B9F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9140" y="1805940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47872" y="2423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3593592" y="27889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macchina a stati del dialogo, interrupt e checkpointer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272784" y="1371600"/>
            <a:ext cx="2606040" cy="2240280"/>
          </a:xfrm>
          <a:prstGeom prst="roundRect">
            <a:avLst>
              <a:gd name="adj" fmla="val 3673"/>
            </a:avLst>
          </a:prstGeom>
          <a:solidFill>
            <a:srgbClr val="E8F4FB"/>
          </a:solidFill>
          <a:ln/>
          <a:effectLst>
            <a:outerShdw blurRad="63500" dist="25400" dir="5400000" algn="bl" rotWithShape="0">
              <a:srgbClr val="9AB6C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7232904" y="1627632"/>
            <a:ext cx="685800" cy="685800"/>
          </a:xfrm>
          <a:prstGeom prst="ellipse">
            <a:avLst/>
          </a:prstGeom>
          <a:solidFill>
            <a:srgbClr val="1B9F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1212" y="1805940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9944" y="2423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6455664" y="27889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GraphCypherQAChain e integrazione col grafo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9134856" y="1371600"/>
            <a:ext cx="2606040" cy="2240280"/>
          </a:xfrm>
          <a:prstGeom prst="roundRect">
            <a:avLst>
              <a:gd name="adj" fmla="val 3673"/>
            </a:avLst>
          </a:prstGeom>
          <a:solidFill>
            <a:srgbClr val="E8F4FB"/>
          </a:solidFill>
          <a:ln/>
          <a:effectLst>
            <a:outerShdw blurRad="63500" dist="25400" dir="5400000" algn="bl" rotWithShape="0">
              <a:srgbClr val="9AB6C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10094976" y="1627632"/>
            <a:ext cx="685800" cy="685800"/>
          </a:xfrm>
          <a:prstGeom prst="ellipse">
            <a:avLst/>
          </a:prstGeom>
          <a:solidFill>
            <a:srgbClr val="1B9F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73284" y="1805940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272016" y="2423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/ Gemini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9317736" y="27889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locale di default, cloud via factory make_llm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48640" y="3886200"/>
            <a:ext cx="2606040" cy="2240280"/>
          </a:xfrm>
          <a:prstGeom prst="roundRect">
            <a:avLst>
              <a:gd name="adj" fmla="val 3673"/>
            </a:avLst>
          </a:prstGeom>
          <a:solidFill>
            <a:srgbClr val="E8F4FB"/>
          </a:solidFill>
          <a:ln/>
          <a:effectLst>
            <a:outerShdw blurRad="63500" dist="25400" dir="5400000" algn="bl" rotWithShape="0">
              <a:srgbClr val="9AB6C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1508760" y="4142232"/>
            <a:ext cx="685800" cy="685800"/>
          </a:xfrm>
          <a:prstGeom prst="ellipse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7068" y="4320540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85800" y="4937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large-v3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731520" y="53035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trascrizione vocale locale (transformers + torch)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3410712" y="3886200"/>
            <a:ext cx="2606040" cy="2240280"/>
          </a:xfrm>
          <a:prstGeom prst="roundRect">
            <a:avLst>
              <a:gd name="adj" fmla="val 3673"/>
            </a:avLst>
          </a:prstGeom>
          <a:solidFill>
            <a:srgbClr val="E8F4FB"/>
          </a:solidFill>
          <a:ln/>
          <a:effectLst>
            <a:outerShdw blurRad="63500" dist="25400" dir="5400000" algn="bl" rotWithShape="0">
              <a:srgbClr val="9AB6C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4370832" y="4142232"/>
            <a:ext cx="685800" cy="685800"/>
          </a:xfrm>
          <a:prstGeom prst="ellipse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9140" y="4320540"/>
            <a:ext cx="329184" cy="32918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3547872" y="4937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gTTS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3593592" y="53035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sintesi vocale della risposta, tollerante ai guasti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6272784" y="3886200"/>
            <a:ext cx="2606040" cy="2240280"/>
          </a:xfrm>
          <a:prstGeom prst="roundRect">
            <a:avLst>
              <a:gd name="adj" fmla="val 3673"/>
            </a:avLst>
          </a:prstGeom>
          <a:solidFill>
            <a:srgbClr val="E8F4FB"/>
          </a:solidFill>
          <a:ln/>
          <a:effectLst>
            <a:outerShdw blurRad="63500" dist="25400" dir="5400000" algn="bl" rotWithShape="0">
              <a:srgbClr val="9AB6C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6"/>
          <p:cNvSpPr/>
          <p:nvPr/>
        </p:nvSpPr>
        <p:spPr>
          <a:xfrm>
            <a:off x="7232904" y="4142232"/>
            <a:ext cx="685800" cy="685800"/>
          </a:xfrm>
          <a:prstGeom prst="ellipse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11212" y="4320540"/>
            <a:ext cx="329184" cy="329184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409944" y="4937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6</a:t>
            </a:r>
            <a:endParaRPr lang="en-US" sz="1450" dirty="0"/>
          </a:p>
        </p:txBody>
      </p:sp>
      <p:sp>
        <p:nvSpPr>
          <p:cNvPr id="37" name="Text 28"/>
          <p:cNvSpPr/>
          <p:nvPr/>
        </p:nvSpPr>
        <p:spPr>
          <a:xfrm>
            <a:off x="6455664" y="53035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web con microfono, player e tema azzurro</a:t>
            </a:r>
            <a:endParaRPr lang="en-US" sz="1050" dirty="0"/>
          </a:p>
        </p:txBody>
      </p:sp>
      <p:sp>
        <p:nvSpPr>
          <p:cNvPr id="38" name="Shape 29"/>
          <p:cNvSpPr/>
          <p:nvPr/>
        </p:nvSpPr>
        <p:spPr>
          <a:xfrm>
            <a:off x="9134856" y="3886200"/>
            <a:ext cx="2606040" cy="2240280"/>
          </a:xfrm>
          <a:prstGeom prst="roundRect">
            <a:avLst>
              <a:gd name="adj" fmla="val 3673"/>
            </a:avLst>
          </a:prstGeom>
          <a:solidFill>
            <a:srgbClr val="E8F4FB"/>
          </a:solidFill>
          <a:ln/>
          <a:effectLst>
            <a:outerShdw blurRad="63500" dist="25400" dir="5400000" algn="bl" rotWithShape="0">
              <a:srgbClr val="9AB6C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0"/>
          <p:cNvSpPr/>
          <p:nvPr/>
        </p:nvSpPr>
        <p:spPr>
          <a:xfrm>
            <a:off x="10094976" y="4142232"/>
            <a:ext cx="685800" cy="685800"/>
          </a:xfrm>
          <a:prstGeom prst="ellipse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73284" y="4320540"/>
            <a:ext cx="329184" cy="329184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9272016" y="4937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450" dirty="0"/>
          </a:p>
        </p:txBody>
      </p:sp>
      <p:sp>
        <p:nvSpPr>
          <p:cNvPr id="42" name="Text 32"/>
          <p:cNvSpPr/>
          <p:nvPr/>
        </p:nvSpPr>
        <p:spPr>
          <a:xfrm>
            <a:off x="9317736" y="53035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tipizzato di stato e output del classificatore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029200" cy="5029200"/>
          </a:xfrm>
          <a:prstGeom prst="ellipse">
            <a:avLst/>
          </a:prstGeom>
          <a:solidFill>
            <a:srgbClr val="1B9FD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72800" y="4480560"/>
            <a:ext cx="2651760" cy="2651760"/>
          </a:xfrm>
          <a:prstGeom prst="ellipse">
            <a:avLst/>
          </a:prstGeom>
          <a:solidFill>
            <a:srgbClr val="F2A93B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Scelte architetturali chiave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44475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2801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E6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grafo, non gli embedding: il dominio è fattuale e relazionale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640080" y="222199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340864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176272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E6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L'LLM traduce e sintetizza, mai fonte di verità: allucinazioni ridotte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640080" y="3118104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236976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3072384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E6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parallelo + sintesi unica: meno chiamate, stile centralizzato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40080" y="4014216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133088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25880" y="39684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E6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separati per ruolo: routing, Cypher e sintesi non si inquinano</a:t>
            </a:r>
            <a:endParaRPr lang="en-US" sz="1650" dirty="0"/>
          </a:p>
        </p:txBody>
      </p:sp>
      <p:sp>
        <p:nvSpPr>
          <p:cNvPr id="17" name="Shape 11"/>
          <p:cNvSpPr/>
          <p:nvPr/>
        </p:nvSpPr>
        <p:spPr>
          <a:xfrm>
            <a:off x="640080" y="4910328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5029200"/>
            <a:ext cx="219456" cy="21945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25880" y="486460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E6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Degradazione elegante: fallback, retry mirati, voce opzionale</a:t>
            </a:r>
            <a:endParaRPr lang="en-US" sz="1650" dirty="0"/>
          </a:p>
        </p:txBody>
      </p:sp>
      <p:sp>
        <p:nvSpPr>
          <p:cNvPr id="20" name="Text 13"/>
          <p:cNvSpPr/>
          <p:nvPr/>
        </p:nvSpPr>
        <p:spPr>
          <a:xfrm>
            <a:off x="640080" y="5989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Jamme jà!</a:t>
            </a:r>
            <a:endParaRPr lang="en-US" sz="2400" dirty="0"/>
          </a:p>
        </p:txBody>
      </p:sp>
      <p:sp>
        <p:nvSpPr>
          <p:cNvPr id="21" name="Text 14"/>
          <p:cNvSpPr/>
          <p:nvPr/>
        </p:nvSpPr>
        <p:spPr>
          <a:xfrm>
            <a:off x="6400800" y="6172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A8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JammIA  ·  Progetto NLP  ·  Manuel Mignogna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1286</Words>
  <Application>Microsoft Macintosh PowerPoint</Application>
  <PresentationFormat>Widescreen</PresentationFormat>
  <Paragraphs>177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MANUEL MIGNOGNA</cp:lastModifiedBy>
  <cp:revision>2</cp:revision>
  <dcterms:created xsi:type="dcterms:W3CDTF">2026-07-19T15:43:05Z</dcterms:created>
  <dcterms:modified xsi:type="dcterms:W3CDTF">2026-07-19T15:54:06Z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2026-07-19T15:54:06Z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9b49bf32-a53c-4b18-bbd9-8d99d8d11c39</vt:lpwstr>
  </property>
  <property fmtid="{D5CDD505-2E9C-101B-9397-08002B2CF9AE}" pid="8" name="MSIP_Label_2ad0b24d-6422-44b0-b3de-abb3a9e8c81a_ContentBits">
    <vt:lpwstr>0</vt:lpwstr>
  </property>
  <property fmtid="{D5CDD505-2E9C-101B-9397-08002B2CF9AE}" pid="9" name="MSIP_Label_2ad0b24d-6422-44b0-b3de-abb3a9e8c81a_Tag">
    <vt:lpwstr>50, 3, 0, 1</vt:lpwstr>
  </property>
</Properties>
</file>